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4CAF5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31" d="100"/>
          <a:sy n="131" d="100"/>
        </p:scale>
        <p:origin x="62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3124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2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4559"/>
            <a:ext cx="9144000" cy="51435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74AE797-6309-0929-8567-5E16497943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617042"/>
            <a:ext cx="9144000" cy="152645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151553" y="1395184"/>
            <a:ext cx="7143750" cy="230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CAF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CSE363 | Cloud Computing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1151553" y="1697007"/>
            <a:ext cx="7143750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1A36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Intelligent Multi-Model AI Agent for Interactive Language Learning</a:t>
            </a:r>
            <a:endParaRPr lang="en-US" sz="2450" dirty="0"/>
          </a:p>
        </p:txBody>
      </p:sp>
      <p:sp>
        <p:nvSpPr>
          <p:cNvPr id="6" name="Text 2"/>
          <p:cNvSpPr/>
          <p:nvPr/>
        </p:nvSpPr>
        <p:spPr>
          <a:xfrm>
            <a:off x="1946503" y="3133203"/>
            <a:ext cx="1010340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70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Aser Mohamed</a:t>
            </a:r>
            <a:endParaRPr lang="en-US" sz="1200" b="1" dirty="0">
              <a:solidFill>
                <a:srgbClr val="0070C0"/>
              </a:solidFill>
            </a:endParaRPr>
          </a:p>
        </p:txBody>
      </p:sp>
      <p:sp>
        <p:nvSpPr>
          <p:cNvPr id="7" name="Text 3"/>
          <p:cNvSpPr/>
          <p:nvPr/>
        </p:nvSpPr>
        <p:spPr>
          <a:xfrm>
            <a:off x="2148707" y="3281436"/>
            <a:ext cx="605935" cy="1615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70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222102487</a:t>
            </a:r>
            <a:endParaRPr lang="en-US" sz="1050" b="1" dirty="0">
              <a:solidFill>
                <a:srgbClr val="0070C0"/>
              </a:solidFill>
            </a:endParaRPr>
          </a:p>
        </p:txBody>
      </p:sp>
      <p:sp>
        <p:nvSpPr>
          <p:cNvPr id="8" name="Text 4"/>
          <p:cNvSpPr/>
          <p:nvPr/>
        </p:nvSpPr>
        <p:spPr>
          <a:xfrm>
            <a:off x="3073202" y="3133203"/>
            <a:ext cx="1054776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030A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Mohamed Rady</a:t>
            </a:r>
            <a:endParaRPr lang="en-US" sz="1200" b="1" dirty="0">
              <a:solidFill>
                <a:srgbClr val="7030A0"/>
              </a:solidFill>
            </a:endParaRPr>
          </a:p>
        </p:txBody>
      </p:sp>
      <p:sp>
        <p:nvSpPr>
          <p:cNvPr id="9" name="Text 5"/>
          <p:cNvSpPr/>
          <p:nvPr/>
        </p:nvSpPr>
        <p:spPr>
          <a:xfrm>
            <a:off x="3297623" y="3281436"/>
            <a:ext cx="605935" cy="1615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030A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222200004</a:t>
            </a:r>
            <a:endParaRPr lang="en-US" sz="1050" b="1" dirty="0">
              <a:solidFill>
                <a:srgbClr val="7030A0"/>
              </a:solidFill>
            </a:endParaRPr>
          </a:p>
        </p:txBody>
      </p:sp>
      <p:sp>
        <p:nvSpPr>
          <p:cNvPr id="10" name="Text 6"/>
          <p:cNvSpPr/>
          <p:nvPr/>
        </p:nvSpPr>
        <p:spPr>
          <a:xfrm>
            <a:off x="4227361" y="3133203"/>
            <a:ext cx="1218282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70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Mohamed Elsayed</a:t>
            </a:r>
            <a:endParaRPr lang="en-US" sz="1200" b="1" dirty="0">
              <a:solidFill>
                <a:srgbClr val="0070C0"/>
              </a:solidFill>
            </a:endParaRPr>
          </a:p>
        </p:txBody>
      </p:sp>
      <p:sp>
        <p:nvSpPr>
          <p:cNvPr id="11" name="Text 7"/>
          <p:cNvSpPr/>
          <p:nvPr/>
        </p:nvSpPr>
        <p:spPr>
          <a:xfrm>
            <a:off x="4533533" y="3281436"/>
            <a:ext cx="605935" cy="1615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70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222200002</a:t>
            </a:r>
            <a:endParaRPr lang="en-US" sz="1050" b="1" dirty="0">
              <a:solidFill>
                <a:srgbClr val="0070C0"/>
              </a:solidFill>
            </a:endParaRPr>
          </a:p>
        </p:txBody>
      </p:sp>
      <p:sp>
        <p:nvSpPr>
          <p:cNvPr id="12" name="Text 8"/>
          <p:cNvSpPr/>
          <p:nvPr/>
        </p:nvSpPr>
        <p:spPr>
          <a:xfrm>
            <a:off x="5561877" y="3133203"/>
            <a:ext cx="835164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030A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Sherif Farag</a:t>
            </a:r>
            <a:endParaRPr lang="en-US" sz="1200" b="1" dirty="0">
              <a:solidFill>
                <a:srgbClr val="7030A0"/>
              </a:solidFill>
            </a:endParaRPr>
          </a:p>
        </p:txBody>
      </p:sp>
      <p:sp>
        <p:nvSpPr>
          <p:cNvPr id="13" name="Text 9"/>
          <p:cNvSpPr/>
          <p:nvPr/>
        </p:nvSpPr>
        <p:spPr>
          <a:xfrm>
            <a:off x="5676491" y="3281436"/>
            <a:ext cx="605935" cy="1615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030A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222100822</a:t>
            </a:r>
            <a:endParaRPr lang="en-US" sz="1050" b="1" dirty="0">
              <a:solidFill>
                <a:srgbClr val="7030A0"/>
              </a:solidFill>
            </a:endParaRPr>
          </a:p>
        </p:txBody>
      </p:sp>
      <p:sp>
        <p:nvSpPr>
          <p:cNvPr id="14" name="Text 10"/>
          <p:cNvSpPr/>
          <p:nvPr/>
        </p:nvSpPr>
        <p:spPr>
          <a:xfrm>
            <a:off x="6535715" y="3133203"/>
            <a:ext cx="959173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70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Youssef Essam</a:t>
            </a:r>
            <a:endParaRPr lang="en-US" sz="1200" b="1" dirty="0">
              <a:solidFill>
                <a:srgbClr val="0070C0"/>
              </a:solidFill>
            </a:endParaRPr>
          </a:p>
        </p:txBody>
      </p:sp>
      <p:sp>
        <p:nvSpPr>
          <p:cNvPr id="15" name="Text 11"/>
          <p:cNvSpPr/>
          <p:nvPr/>
        </p:nvSpPr>
        <p:spPr>
          <a:xfrm>
            <a:off x="6712335" y="3281436"/>
            <a:ext cx="605935" cy="1615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70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222101958</a:t>
            </a:r>
            <a:endParaRPr lang="en-US" sz="1050" b="1" dirty="0">
              <a:solidFill>
                <a:srgbClr val="0070C0"/>
              </a:solidFill>
            </a:endParaRPr>
          </a:p>
        </p:txBody>
      </p:sp>
      <p:sp>
        <p:nvSpPr>
          <p:cNvPr id="16" name="Text 12"/>
          <p:cNvSpPr/>
          <p:nvPr/>
        </p:nvSpPr>
        <p:spPr>
          <a:xfrm>
            <a:off x="2564490" y="3617042"/>
            <a:ext cx="4249203" cy="340991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00B0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Under the supervision of Prof. Eman Kamel and TA: Eng. Shrouk Shata</a:t>
            </a:r>
            <a:endParaRPr lang="en-US" sz="1100" b="1" dirty="0">
              <a:solidFill>
                <a:srgbClr val="00B050"/>
              </a:solidFill>
            </a:endParaRPr>
          </a:p>
        </p:txBody>
      </p:sp>
      <p:sp>
        <p:nvSpPr>
          <p:cNvPr id="17" name="Shape 13"/>
          <p:cNvSpPr/>
          <p:nvPr/>
        </p:nvSpPr>
        <p:spPr>
          <a:xfrm>
            <a:off x="0" y="4714875"/>
            <a:ext cx="9144000" cy="428625"/>
          </a:xfrm>
          <a:prstGeom prst="rect">
            <a:avLst/>
          </a:prstGeom>
          <a:solidFill>
            <a:srgbClr val="1A3673"/>
          </a:solidFill>
          <a:ln/>
        </p:spPr>
      </p:sp>
      <p:sp>
        <p:nvSpPr>
          <p:cNvPr id="18" name="Shape 14"/>
          <p:cNvSpPr/>
          <p:nvPr/>
        </p:nvSpPr>
        <p:spPr>
          <a:xfrm>
            <a:off x="0" y="4714875"/>
            <a:ext cx="2743200" cy="428625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9" name="Text 15"/>
          <p:cNvSpPr/>
          <p:nvPr/>
        </p:nvSpPr>
        <p:spPr>
          <a:xfrm>
            <a:off x="2921874" y="4835856"/>
            <a:ext cx="3869515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Galala University · Faculty of Computer Science and Engineering</a:t>
            </a:r>
            <a:endParaRPr lang="en-US" sz="1000" b="1" dirty="0"/>
          </a:p>
        </p:txBody>
      </p:sp>
      <p:pic>
        <p:nvPicPr>
          <p:cNvPr id="20" name="Image 1" descr="preencoded.png">
            <a:extLst>
              <a:ext uri="{FF2B5EF4-FFF2-40B4-BE49-F238E27FC236}">
                <a16:creationId xmlns:a16="http://schemas.microsoft.com/office/drawing/2014/main" id="{832BF559-4C20-1D71-3272-2A47870675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450" y="285749"/>
            <a:ext cx="2028859" cy="660683"/>
          </a:xfrm>
          <a:prstGeom prst="rect">
            <a:avLst/>
          </a:prstGeom>
        </p:spPr>
      </p:pic>
      <p:sp>
        <p:nvSpPr>
          <p:cNvPr id="23" name="Text 6">
            <a:extLst>
              <a:ext uri="{FF2B5EF4-FFF2-40B4-BE49-F238E27FC236}">
                <a16:creationId xmlns:a16="http://schemas.microsoft.com/office/drawing/2014/main" id="{ADAEFF05-5022-3435-F1A2-890D71918755}"/>
              </a:ext>
            </a:extLst>
          </p:cNvPr>
          <p:cNvSpPr/>
          <p:nvPr/>
        </p:nvSpPr>
        <p:spPr>
          <a:xfrm>
            <a:off x="733582" y="2790633"/>
            <a:ext cx="2068303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i="1" dirty="0">
                <a:solidFill>
                  <a:srgbClr val="00B050"/>
                </a:solidFill>
                <a:latin typeface="Times New Roman" panose="02020603050405020304" pitchFamily="18" charset="0"/>
                <a:ea typeface="Inter ExtraBold" pitchFamily="34" charset="-122"/>
                <a:cs typeface="Times New Roman" panose="02020603050405020304" pitchFamily="18" charset="0"/>
              </a:rPr>
              <a:t>Presented By:</a:t>
            </a:r>
            <a:endParaRPr lang="en-US" sz="1400" b="1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FE46310-E5EC-196D-B365-49530B3791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0835" y="3726233"/>
            <a:ext cx="9144000" cy="152645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000125"/>
          </a:xfrm>
          <a:prstGeom prst="rect">
            <a:avLst/>
          </a:prstGeom>
          <a:solidFill>
            <a:srgbClr val="1A3673"/>
          </a:solidFill>
          <a:ln/>
        </p:spPr>
      </p:sp>
      <p:sp>
        <p:nvSpPr>
          <p:cNvPr id="4" name="Text 1"/>
          <p:cNvSpPr/>
          <p:nvPr/>
        </p:nvSpPr>
        <p:spPr>
          <a:xfrm>
            <a:off x="571500" y="285750"/>
            <a:ext cx="8572500" cy="3446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Overview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>
            <a:off x="7000875" y="0"/>
            <a:ext cx="2143125" cy="1000125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6" name="Text 3"/>
          <p:cNvSpPr/>
          <p:nvPr/>
        </p:nvSpPr>
        <p:spPr>
          <a:xfrm>
            <a:off x="428812" y="2198697"/>
            <a:ext cx="3017509" cy="1982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b="1" kern="0" spc="2" dirty="0">
                <a:solidFill>
                  <a:schemeClr val="accent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CATEGORY</a:t>
            </a:r>
            <a:endParaRPr lang="en-US" sz="1250" b="1" dirty="0">
              <a:solidFill>
                <a:schemeClr val="accent1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428812" y="2468373"/>
            <a:ext cx="3017509" cy="4385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4CAF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Web Application</a:t>
            </a:r>
            <a:endParaRPr lang="en-US" sz="2850" dirty="0">
              <a:solidFill>
                <a:srgbClr val="4CAF50"/>
              </a:solidFill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6209" y="2046570"/>
            <a:ext cx="22860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381965" y="2029603"/>
            <a:ext cx="1881262" cy="262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36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046209" y="2435011"/>
            <a:ext cx="4526291" cy="1257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ct val="128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Traditional language learning tools often provide </a:t>
            </a:r>
            <a:r>
              <a:rPr lang="en-US" sz="1100" b="1" dirty="0">
                <a:solidFill>
                  <a:srgbClr val="4CAF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static content</a:t>
            </a:r>
            <a:r>
              <a:rPr lang="en-US" sz="11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that fails to adapt to individual needs. Learners lack access to </a:t>
            </a:r>
            <a:r>
              <a:rPr lang="en-US" sz="1100" b="1" dirty="0">
                <a:solidFill>
                  <a:srgbClr val="4CAF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personalized, real-time feedback</a:t>
            </a:r>
            <a:r>
              <a:rPr lang="en-US" sz="11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on grammar, vocabulary, and conversation. Our project solves this by creating an </a:t>
            </a:r>
            <a:r>
              <a:rPr lang="en-US" sz="1100" b="1" dirty="0">
                <a:solidFill>
                  <a:srgbClr val="4CAF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intelligent AI tutor</a:t>
            </a:r>
            <a:r>
              <a:rPr lang="en-US" sz="11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that is always available and adapts to every student's unique learning journey.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722" y="0"/>
            <a:ext cx="9144000" cy="51435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67F2FBF-27C4-209A-871E-C5D197B926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735706"/>
            <a:ext cx="9144000" cy="140779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000125"/>
          </a:xfrm>
          <a:prstGeom prst="rect">
            <a:avLst/>
          </a:prstGeom>
          <a:solidFill>
            <a:srgbClr val="1A3673"/>
          </a:solidFill>
          <a:ln/>
        </p:spPr>
      </p:sp>
      <p:sp>
        <p:nvSpPr>
          <p:cNvPr id="4" name="Text 1"/>
          <p:cNvSpPr/>
          <p:nvPr/>
        </p:nvSpPr>
        <p:spPr>
          <a:xfrm>
            <a:off x="571500" y="285750"/>
            <a:ext cx="8572500" cy="3446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Compute Layer: Containerization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>
            <a:off x="7000875" y="0"/>
            <a:ext cx="2143125" cy="1000125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1285875"/>
            <a:ext cx="2174295" cy="316111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36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Docker Containers?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744861"/>
            <a:ext cx="171450" cy="20716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50106" y="1744861"/>
            <a:ext cx="4085583" cy="351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A36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Lightweight:</a:t>
            </a:r>
            <a:r>
              <a:rPr lang="en-US" sz="10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Share host OS kernel, </a:t>
            </a:r>
            <a:br>
              <a:rPr lang="en-US" sz="10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</a:br>
            <a:r>
              <a:rPr lang="en-US" sz="10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saving RAM (50MB vs 1GB for VMs).</a:t>
            </a:r>
            <a:endParaRPr lang="en-US" sz="10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287786"/>
            <a:ext cx="128588" cy="20716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7244" y="2287786"/>
            <a:ext cx="316264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A36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Fast Startup:</a:t>
            </a:r>
            <a:r>
              <a:rPr lang="en-US" sz="10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Services launch in seconds, not minutes.</a:t>
            </a:r>
            <a:endParaRPr lang="en-US" sz="10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2637830"/>
            <a:ext cx="214313" cy="207169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92969" y="2637830"/>
            <a:ext cx="340020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A36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Portability:</a:t>
            </a:r>
            <a:r>
              <a:rPr lang="en-US" sz="10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Identical behavior from development to cloud.</a:t>
            </a:r>
            <a:endParaRPr lang="en-US" sz="10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2987873"/>
            <a:ext cx="192881" cy="207169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71538" y="2987873"/>
            <a:ext cx="334606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A36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Orchestration:</a:t>
            </a:r>
            <a:r>
              <a:rPr lang="en-US" sz="10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Manage all 7 services with one command.</a:t>
            </a:r>
            <a:endParaRPr lang="en-US" sz="1000" dirty="0"/>
          </a:p>
        </p:txBody>
      </p:sp>
      <p:sp>
        <p:nvSpPr>
          <p:cNvPr id="15" name="Shape 8"/>
          <p:cNvSpPr/>
          <p:nvPr/>
        </p:nvSpPr>
        <p:spPr>
          <a:xfrm>
            <a:off x="571500" y="3480792"/>
            <a:ext cx="2364442" cy="219670"/>
          </a:xfrm>
          <a:prstGeom prst="rect">
            <a:avLst/>
          </a:prstGeom>
          <a:solidFill>
            <a:srgbClr val="1A3673"/>
          </a:solidFill>
          <a:ln/>
        </p:spPr>
      </p:sp>
      <p:sp>
        <p:nvSpPr>
          <p:cNvPr id="16" name="Text 9"/>
          <p:cNvSpPr/>
          <p:nvPr/>
        </p:nvSpPr>
        <p:spPr>
          <a:xfrm>
            <a:off x="571500" y="3480792"/>
            <a:ext cx="2364442" cy="219670"/>
          </a:xfrm>
          <a:prstGeom prst="rect">
            <a:avLst/>
          </a:prstGeom>
          <a:noFill/>
          <a:ln/>
        </p:spPr>
        <p:txBody>
          <a:bodyPr wrap="square" lIns="170053" tIns="85090" rIns="170053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 Isolated Services Managed Together</a:t>
            </a:r>
            <a:endParaRPr lang="en-US" sz="900" dirty="0"/>
          </a:p>
        </p:txBody>
      </p:sp>
      <p:sp>
        <p:nvSpPr>
          <p:cNvPr id="18" name="Text 10"/>
          <p:cNvSpPr/>
          <p:nvPr/>
        </p:nvSpPr>
        <p:spPr>
          <a:xfrm>
            <a:off x="5707279" y="4054719"/>
            <a:ext cx="2020174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Virtualization via OS-level Containerization</a:t>
            </a:r>
            <a:endParaRPr lang="en-US" sz="850" dirty="0"/>
          </a:p>
        </p:txBody>
      </p:sp>
      <p:sp>
        <p:nvSpPr>
          <p:cNvPr id="51" name="Shape 7">
            <a:extLst>
              <a:ext uri="{FF2B5EF4-FFF2-40B4-BE49-F238E27FC236}">
                <a16:creationId xmlns:a16="http://schemas.microsoft.com/office/drawing/2014/main" id="{2321296A-21E1-2BD1-9AF2-5A3271F3BA08}"/>
              </a:ext>
            </a:extLst>
          </p:cNvPr>
          <p:cNvSpPr/>
          <p:nvPr/>
        </p:nvSpPr>
        <p:spPr>
          <a:xfrm>
            <a:off x="4199935" y="1656680"/>
            <a:ext cx="986451" cy="282178"/>
          </a:xfrm>
          <a:prstGeom prst="rect">
            <a:avLst/>
          </a:prstGeom>
          <a:solidFill>
            <a:srgbClr val="1A3673"/>
          </a:solidFill>
          <a:ln w="9144">
            <a:solidFill>
              <a:srgbClr val="1A3673"/>
            </a:solidFill>
            <a:prstDash val="solid"/>
          </a:ln>
        </p:spPr>
      </p:sp>
      <p:sp>
        <p:nvSpPr>
          <p:cNvPr id="52" name="Text 8">
            <a:extLst>
              <a:ext uri="{FF2B5EF4-FFF2-40B4-BE49-F238E27FC236}">
                <a16:creationId xmlns:a16="http://schemas.microsoft.com/office/drawing/2014/main" id="{F90BA54D-EAD8-2B70-8AB4-1D19F5DA3768}"/>
              </a:ext>
            </a:extLst>
          </p:cNvPr>
          <p:cNvSpPr/>
          <p:nvPr/>
        </p:nvSpPr>
        <p:spPr>
          <a:xfrm>
            <a:off x="4448542" y="1650293"/>
            <a:ext cx="489236" cy="294953"/>
          </a:xfrm>
          <a:prstGeom prst="rect">
            <a:avLst/>
          </a:prstGeom>
          <a:noFill/>
          <a:ln/>
        </p:spPr>
        <p:txBody>
          <a:bodyPr wrap="none" lIns="85090" tIns="85090" rIns="85090" bIns="85090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Service</a:t>
            </a:r>
            <a:endParaRPr lang="en-US" sz="800" dirty="0"/>
          </a:p>
        </p:txBody>
      </p:sp>
      <p:sp>
        <p:nvSpPr>
          <p:cNvPr id="53" name="Shape 9">
            <a:extLst>
              <a:ext uri="{FF2B5EF4-FFF2-40B4-BE49-F238E27FC236}">
                <a16:creationId xmlns:a16="http://schemas.microsoft.com/office/drawing/2014/main" id="{756AFCAE-B26D-1CBD-FD86-020D90871D13}"/>
              </a:ext>
            </a:extLst>
          </p:cNvPr>
          <p:cNvSpPr/>
          <p:nvPr/>
        </p:nvSpPr>
        <p:spPr>
          <a:xfrm>
            <a:off x="5186386" y="1656680"/>
            <a:ext cx="1041788" cy="282178"/>
          </a:xfrm>
          <a:prstGeom prst="rect">
            <a:avLst/>
          </a:prstGeom>
          <a:solidFill>
            <a:srgbClr val="1A3673"/>
          </a:solidFill>
          <a:ln w="9144">
            <a:solidFill>
              <a:srgbClr val="1A3673"/>
            </a:solidFill>
            <a:prstDash val="solid"/>
          </a:ln>
        </p:spPr>
      </p:sp>
      <p:sp>
        <p:nvSpPr>
          <p:cNvPr id="54" name="Text 10">
            <a:extLst>
              <a:ext uri="{FF2B5EF4-FFF2-40B4-BE49-F238E27FC236}">
                <a16:creationId xmlns:a16="http://schemas.microsoft.com/office/drawing/2014/main" id="{5EECE716-545E-D34B-4816-2414F51F67A7}"/>
              </a:ext>
            </a:extLst>
          </p:cNvPr>
          <p:cNvSpPr/>
          <p:nvPr/>
        </p:nvSpPr>
        <p:spPr>
          <a:xfrm>
            <a:off x="5399343" y="1650293"/>
            <a:ext cx="615874" cy="294953"/>
          </a:xfrm>
          <a:prstGeom prst="rect">
            <a:avLst/>
          </a:prstGeom>
          <a:noFill/>
          <a:ln/>
        </p:spPr>
        <p:txBody>
          <a:bodyPr wrap="none" lIns="85090" tIns="85090" rIns="85090" bIns="85090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Container</a:t>
            </a:r>
            <a:endParaRPr lang="en-US" sz="800" dirty="0"/>
          </a:p>
        </p:txBody>
      </p:sp>
      <p:sp>
        <p:nvSpPr>
          <p:cNvPr id="55" name="Shape 11">
            <a:extLst>
              <a:ext uri="{FF2B5EF4-FFF2-40B4-BE49-F238E27FC236}">
                <a16:creationId xmlns:a16="http://schemas.microsoft.com/office/drawing/2014/main" id="{66FD73F6-7B89-A748-4D87-02B625340637}"/>
              </a:ext>
            </a:extLst>
          </p:cNvPr>
          <p:cNvSpPr/>
          <p:nvPr/>
        </p:nvSpPr>
        <p:spPr>
          <a:xfrm>
            <a:off x="6228174" y="1656680"/>
            <a:ext cx="2765217" cy="282178"/>
          </a:xfrm>
          <a:prstGeom prst="rect">
            <a:avLst/>
          </a:prstGeom>
          <a:solidFill>
            <a:srgbClr val="1A3673"/>
          </a:solidFill>
          <a:ln w="9144">
            <a:solidFill>
              <a:srgbClr val="1A3673"/>
            </a:solidFill>
            <a:prstDash val="solid"/>
          </a:ln>
        </p:spPr>
      </p:sp>
      <p:sp>
        <p:nvSpPr>
          <p:cNvPr id="56" name="Text 12">
            <a:extLst>
              <a:ext uri="{FF2B5EF4-FFF2-40B4-BE49-F238E27FC236}">
                <a16:creationId xmlns:a16="http://schemas.microsoft.com/office/drawing/2014/main" id="{A74AA048-C8E8-79FF-8864-A04827A447B4}"/>
              </a:ext>
            </a:extLst>
          </p:cNvPr>
          <p:cNvSpPr/>
          <p:nvPr/>
        </p:nvSpPr>
        <p:spPr>
          <a:xfrm>
            <a:off x="6228174" y="1650293"/>
            <a:ext cx="2765217" cy="29495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Role</a:t>
            </a:r>
            <a:endParaRPr lang="en-US" sz="800" dirty="0"/>
          </a:p>
        </p:txBody>
      </p:sp>
      <p:sp>
        <p:nvSpPr>
          <p:cNvPr id="57" name="Text 13">
            <a:extLst>
              <a:ext uri="{FF2B5EF4-FFF2-40B4-BE49-F238E27FC236}">
                <a16:creationId xmlns:a16="http://schemas.microsoft.com/office/drawing/2014/main" id="{FA42D15D-7298-DA4C-7792-5E3E380E78B9}"/>
              </a:ext>
            </a:extLst>
          </p:cNvPr>
          <p:cNvSpPr/>
          <p:nvPr/>
        </p:nvSpPr>
        <p:spPr>
          <a:xfrm>
            <a:off x="4332677" y="1924377"/>
            <a:ext cx="720967" cy="268279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API Backend</a:t>
            </a:r>
            <a:endParaRPr lang="en-US" sz="850" dirty="0"/>
          </a:p>
        </p:txBody>
      </p:sp>
      <p:sp>
        <p:nvSpPr>
          <p:cNvPr id="58" name="Text 14">
            <a:extLst>
              <a:ext uri="{FF2B5EF4-FFF2-40B4-BE49-F238E27FC236}">
                <a16:creationId xmlns:a16="http://schemas.microsoft.com/office/drawing/2014/main" id="{14C72978-087E-F3DD-8C52-CFCCAE1A7DB3}"/>
              </a:ext>
            </a:extLst>
          </p:cNvPr>
          <p:cNvSpPr/>
          <p:nvPr/>
        </p:nvSpPr>
        <p:spPr>
          <a:xfrm>
            <a:off x="5399696" y="1924377"/>
            <a:ext cx="615168" cy="268279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ai-backend</a:t>
            </a:r>
            <a:endParaRPr lang="en-US" sz="850" dirty="0"/>
          </a:p>
        </p:txBody>
      </p:sp>
      <p:sp>
        <p:nvSpPr>
          <p:cNvPr id="59" name="Text 15">
            <a:extLst>
              <a:ext uri="{FF2B5EF4-FFF2-40B4-BE49-F238E27FC236}">
                <a16:creationId xmlns:a16="http://schemas.microsoft.com/office/drawing/2014/main" id="{C9B7D2FD-3D10-3F1E-F6DF-E37C6CAE4430}"/>
              </a:ext>
            </a:extLst>
          </p:cNvPr>
          <p:cNvSpPr/>
          <p:nvPr/>
        </p:nvSpPr>
        <p:spPr>
          <a:xfrm>
            <a:off x="6228174" y="1924377"/>
            <a:ext cx="2765217" cy="268279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FastAPI server, AI agent, OCR, TTS, STT</a:t>
            </a:r>
            <a:endParaRPr lang="en-US" sz="850" dirty="0"/>
          </a:p>
        </p:txBody>
      </p:sp>
      <p:sp>
        <p:nvSpPr>
          <p:cNvPr id="60" name="Shape 16">
            <a:extLst>
              <a:ext uri="{FF2B5EF4-FFF2-40B4-BE49-F238E27FC236}">
                <a16:creationId xmlns:a16="http://schemas.microsoft.com/office/drawing/2014/main" id="{FAD3BFAC-3567-C435-1F28-5D19D6412195}"/>
              </a:ext>
            </a:extLst>
          </p:cNvPr>
          <p:cNvSpPr/>
          <p:nvPr/>
        </p:nvSpPr>
        <p:spPr>
          <a:xfrm>
            <a:off x="4199935" y="2185318"/>
            <a:ext cx="4793456" cy="253603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61" name="Text 17">
            <a:extLst>
              <a:ext uri="{FF2B5EF4-FFF2-40B4-BE49-F238E27FC236}">
                <a16:creationId xmlns:a16="http://schemas.microsoft.com/office/drawing/2014/main" id="{DBAA3BF6-40B3-911B-A006-55FE4981DF1A}"/>
              </a:ext>
            </a:extLst>
          </p:cNvPr>
          <p:cNvSpPr/>
          <p:nvPr/>
        </p:nvSpPr>
        <p:spPr>
          <a:xfrm>
            <a:off x="4427254" y="2177980"/>
            <a:ext cx="531812" cy="268279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Frontend</a:t>
            </a:r>
            <a:endParaRPr lang="en-US" sz="850" dirty="0"/>
          </a:p>
        </p:txBody>
      </p:sp>
      <p:sp>
        <p:nvSpPr>
          <p:cNvPr id="62" name="Text 18">
            <a:extLst>
              <a:ext uri="{FF2B5EF4-FFF2-40B4-BE49-F238E27FC236}">
                <a16:creationId xmlns:a16="http://schemas.microsoft.com/office/drawing/2014/main" id="{49343A17-A7D9-EF9B-E2A2-AFC5E7B8B04E}"/>
              </a:ext>
            </a:extLst>
          </p:cNvPr>
          <p:cNvSpPr/>
          <p:nvPr/>
        </p:nvSpPr>
        <p:spPr>
          <a:xfrm>
            <a:off x="5395688" y="2177980"/>
            <a:ext cx="623183" cy="268279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ai-frontend</a:t>
            </a:r>
            <a:endParaRPr lang="en-US" sz="850" dirty="0"/>
          </a:p>
        </p:txBody>
      </p:sp>
      <p:sp>
        <p:nvSpPr>
          <p:cNvPr id="63" name="Text 19">
            <a:extLst>
              <a:ext uri="{FF2B5EF4-FFF2-40B4-BE49-F238E27FC236}">
                <a16:creationId xmlns:a16="http://schemas.microsoft.com/office/drawing/2014/main" id="{B4F2549F-6316-E165-D3DA-4593C7D758AA}"/>
              </a:ext>
            </a:extLst>
          </p:cNvPr>
          <p:cNvSpPr/>
          <p:nvPr/>
        </p:nvSpPr>
        <p:spPr>
          <a:xfrm>
            <a:off x="6228174" y="2177980"/>
            <a:ext cx="2765217" cy="268279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Next.js web UI</a:t>
            </a:r>
            <a:endParaRPr lang="en-US" sz="850" dirty="0"/>
          </a:p>
        </p:txBody>
      </p:sp>
      <p:sp>
        <p:nvSpPr>
          <p:cNvPr id="64" name="Text 20">
            <a:extLst>
              <a:ext uri="{FF2B5EF4-FFF2-40B4-BE49-F238E27FC236}">
                <a16:creationId xmlns:a16="http://schemas.microsoft.com/office/drawing/2014/main" id="{C70C9518-148E-EE9E-5E8D-8B9C048C7CF3}"/>
              </a:ext>
            </a:extLst>
          </p:cNvPr>
          <p:cNvSpPr/>
          <p:nvPr/>
        </p:nvSpPr>
        <p:spPr>
          <a:xfrm>
            <a:off x="4373554" y="2431583"/>
            <a:ext cx="639213" cy="268279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ChromaDB</a:t>
            </a:r>
            <a:endParaRPr lang="en-US" sz="850" dirty="0"/>
          </a:p>
        </p:txBody>
      </p:sp>
      <p:sp>
        <p:nvSpPr>
          <p:cNvPr id="65" name="Text 21">
            <a:extLst>
              <a:ext uri="{FF2B5EF4-FFF2-40B4-BE49-F238E27FC236}">
                <a16:creationId xmlns:a16="http://schemas.microsoft.com/office/drawing/2014/main" id="{2CC3F9D3-A8DE-B3BB-D1BA-DB1D18B036E1}"/>
              </a:ext>
            </a:extLst>
          </p:cNvPr>
          <p:cNvSpPr/>
          <p:nvPr/>
        </p:nvSpPr>
        <p:spPr>
          <a:xfrm>
            <a:off x="5420535" y="2431583"/>
            <a:ext cx="573490" cy="268279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chromadb</a:t>
            </a:r>
            <a:endParaRPr lang="en-US" sz="850" dirty="0"/>
          </a:p>
        </p:txBody>
      </p:sp>
      <p:sp>
        <p:nvSpPr>
          <p:cNvPr id="66" name="Text 22">
            <a:extLst>
              <a:ext uri="{FF2B5EF4-FFF2-40B4-BE49-F238E27FC236}">
                <a16:creationId xmlns:a16="http://schemas.microsoft.com/office/drawing/2014/main" id="{36556CF0-876E-D179-76C8-2F34A5DAAEBD}"/>
              </a:ext>
            </a:extLst>
          </p:cNvPr>
          <p:cNvSpPr/>
          <p:nvPr/>
        </p:nvSpPr>
        <p:spPr>
          <a:xfrm>
            <a:off x="6228174" y="2431583"/>
            <a:ext cx="2765217" cy="268279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Vector database for RAG</a:t>
            </a:r>
            <a:endParaRPr lang="en-US" sz="850" dirty="0"/>
          </a:p>
        </p:txBody>
      </p:sp>
      <p:sp>
        <p:nvSpPr>
          <p:cNvPr id="67" name="Shape 23">
            <a:extLst>
              <a:ext uri="{FF2B5EF4-FFF2-40B4-BE49-F238E27FC236}">
                <a16:creationId xmlns:a16="http://schemas.microsoft.com/office/drawing/2014/main" id="{22DEDCBC-B823-A910-205B-C99B6358ED0D}"/>
              </a:ext>
            </a:extLst>
          </p:cNvPr>
          <p:cNvSpPr/>
          <p:nvPr/>
        </p:nvSpPr>
        <p:spPr>
          <a:xfrm>
            <a:off x="4199935" y="2692524"/>
            <a:ext cx="4793456" cy="253603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68" name="Text 24">
            <a:extLst>
              <a:ext uri="{FF2B5EF4-FFF2-40B4-BE49-F238E27FC236}">
                <a16:creationId xmlns:a16="http://schemas.microsoft.com/office/drawing/2014/main" id="{41653224-6392-A29F-FB2C-5FBD84F3AC80}"/>
              </a:ext>
            </a:extLst>
          </p:cNvPr>
          <p:cNvSpPr/>
          <p:nvPr/>
        </p:nvSpPr>
        <p:spPr>
          <a:xfrm>
            <a:off x="4448894" y="2685186"/>
            <a:ext cx="488532" cy="268279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NGINX</a:t>
            </a:r>
            <a:endParaRPr lang="en-US" sz="850" dirty="0"/>
          </a:p>
        </p:txBody>
      </p:sp>
      <p:sp>
        <p:nvSpPr>
          <p:cNvPr id="69" name="Text 25">
            <a:extLst>
              <a:ext uri="{FF2B5EF4-FFF2-40B4-BE49-F238E27FC236}">
                <a16:creationId xmlns:a16="http://schemas.microsoft.com/office/drawing/2014/main" id="{BFE13A5A-1FBB-53F4-0353-7F28C404A0EE}"/>
              </a:ext>
            </a:extLst>
          </p:cNvPr>
          <p:cNvSpPr/>
          <p:nvPr/>
        </p:nvSpPr>
        <p:spPr>
          <a:xfrm>
            <a:off x="5411718" y="2685186"/>
            <a:ext cx="591123" cy="268279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Host-level</a:t>
            </a:r>
            <a:endParaRPr lang="en-US" sz="850" dirty="0"/>
          </a:p>
        </p:txBody>
      </p:sp>
      <p:sp>
        <p:nvSpPr>
          <p:cNvPr id="70" name="Text 26">
            <a:extLst>
              <a:ext uri="{FF2B5EF4-FFF2-40B4-BE49-F238E27FC236}">
                <a16:creationId xmlns:a16="http://schemas.microsoft.com/office/drawing/2014/main" id="{C150D1EF-4A4F-C2A8-69B3-362EA838309A}"/>
              </a:ext>
            </a:extLst>
          </p:cNvPr>
          <p:cNvSpPr/>
          <p:nvPr/>
        </p:nvSpPr>
        <p:spPr>
          <a:xfrm>
            <a:off x="6228174" y="2685186"/>
            <a:ext cx="2765217" cy="268279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Reverse proxy, HTTPS, rate limiting</a:t>
            </a:r>
            <a:endParaRPr lang="en-US" sz="850" dirty="0"/>
          </a:p>
        </p:txBody>
      </p:sp>
      <p:sp>
        <p:nvSpPr>
          <p:cNvPr id="71" name="Text 27">
            <a:extLst>
              <a:ext uri="{FF2B5EF4-FFF2-40B4-BE49-F238E27FC236}">
                <a16:creationId xmlns:a16="http://schemas.microsoft.com/office/drawing/2014/main" id="{E5B2F3D1-420E-839A-FEDB-2736A1D02D65}"/>
              </a:ext>
            </a:extLst>
          </p:cNvPr>
          <p:cNvSpPr/>
          <p:nvPr/>
        </p:nvSpPr>
        <p:spPr>
          <a:xfrm>
            <a:off x="4367142" y="2938789"/>
            <a:ext cx="652037" cy="268279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Prometheus</a:t>
            </a:r>
            <a:endParaRPr lang="en-US" sz="850" dirty="0"/>
          </a:p>
        </p:txBody>
      </p:sp>
      <p:sp>
        <p:nvSpPr>
          <p:cNvPr id="72" name="Text 28">
            <a:extLst>
              <a:ext uri="{FF2B5EF4-FFF2-40B4-BE49-F238E27FC236}">
                <a16:creationId xmlns:a16="http://schemas.microsoft.com/office/drawing/2014/main" id="{10ABF270-3799-0E67-3256-98D6394C9A47}"/>
              </a:ext>
            </a:extLst>
          </p:cNvPr>
          <p:cNvSpPr/>
          <p:nvPr/>
        </p:nvSpPr>
        <p:spPr>
          <a:xfrm>
            <a:off x="5326759" y="2938789"/>
            <a:ext cx="761042" cy="268279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ai-prometheus</a:t>
            </a:r>
            <a:endParaRPr lang="en-US" sz="850" dirty="0"/>
          </a:p>
        </p:txBody>
      </p:sp>
      <p:sp>
        <p:nvSpPr>
          <p:cNvPr id="73" name="Text 29">
            <a:extLst>
              <a:ext uri="{FF2B5EF4-FFF2-40B4-BE49-F238E27FC236}">
                <a16:creationId xmlns:a16="http://schemas.microsoft.com/office/drawing/2014/main" id="{AA7AFC67-0483-E598-9759-EA2CE7A065C3}"/>
              </a:ext>
            </a:extLst>
          </p:cNvPr>
          <p:cNvSpPr/>
          <p:nvPr/>
        </p:nvSpPr>
        <p:spPr>
          <a:xfrm>
            <a:off x="6228174" y="2938789"/>
            <a:ext cx="2765217" cy="268279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Metrics collection</a:t>
            </a:r>
            <a:endParaRPr lang="en-US" sz="850" dirty="0"/>
          </a:p>
        </p:txBody>
      </p:sp>
      <p:sp>
        <p:nvSpPr>
          <p:cNvPr id="74" name="Shape 30">
            <a:extLst>
              <a:ext uri="{FF2B5EF4-FFF2-40B4-BE49-F238E27FC236}">
                <a16:creationId xmlns:a16="http://schemas.microsoft.com/office/drawing/2014/main" id="{BC8B1910-F856-0D44-1A49-435438407B37}"/>
              </a:ext>
            </a:extLst>
          </p:cNvPr>
          <p:cNvSpPr/>
          <p:nvPr/>
        </p:nvSpPr>
        <p:spPr>
          <a:xfrm>
            <a:off x="4199935" y="3199730"/>
            <a:ext cx="4793456" cy="253603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75" name="Text 31">
            <a:extLst>
              <a:ext uri="{FF2B5EF4-FFF2-40B4-BE49-F238E27FC236}">
                <a16:creationId xmlns:a16="http://schemas.microsoft.com/office/drawing/2014/main" id="{E07ED277-0C0E-2B42-E193-C4FF53C3EE8F}"/>
              </a:ext>
            </a:extLst>
          </p:cNvPr>
          <p:cNvSpPr/>
          <p:nvPr/>
        </p:nvSpPr>
        <p:spPr>
          <a:xfrm>
            <a:off x="4448894" y="3192392"/>
            <a:ext cx="488532" cy="268279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Grafana</a:t>
            </a:r>
            <a:endParaRPr lang="en-US" sz="850" dirty="0"/>
          </a:p>
        </p:txBody>
      </p:sp>
      <p:sp>
        <p:nvSpPr>
          <p:cNvPr id="76" name="Text 32">
            <a:extLst>
              <a:ext uri="{FF2B5EF4-FFF2-40B4-BE49-F238E27FC236}">
                <a16:creationId xmlns:a16="http://schemas.microsoft.com/office/drawing/2014/main" id="{25E9C5BE-E1A3-4030-B277-4AAF33228225}"/>
              </a:ext>
            </a:extLst>
          </p:cNvPr>
          <p:cNvSpPr/>
          <p:nvPr/>
        </p:nvSpPr>
        <p:spPr>
          <a:xfrm>
            <a:off x="5417329" y="3192392"/>
            <a:ext cx="579902" cy="268279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ai-grafana</a:t>
            </a:r>
            <a:endParaRPr lang="en-US" sz="850" dirty="0"/>
          </a:p>
        </p:txBody>
      </p:sp>
      <p:sp>
        <p:nvSpPr>
          <p:cNvPr id="77" name="Text 33">
            <a:extLst>
              <a:ext uri="{FF2B5EF4-FFF2-40B4-BE49-F238E27FC236}">
                <a16:creationId xmlns:a16="http://schemas.microsoft.com/office/drawing/2014/main" id="{2C920E21-7B42-C1EC-AFA0-992FA5DDCEC3}"/>
              </a:ext>
            </a:extLst>
          </p:cNvPr>
          <p:cNvSpPr/>
          <p:nvPr/>
        </p:nvSpPr>
        <p:spPr>
          <a:xfrm>
            <a:off x="6228174" y="3192392"/>
            <a:ext cx="2765217" cy="268279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Live monitoring dashboard</a:t>
            </a:r>
            <a:endParaRPr lang="en-US" sz="850" dirty="0"/>
          </a:p>
        </p:txBody>
      </p:sp>
      <p:sp>
        <p:nvSpPr>
          <p:cNvPr id="78" name="Text 34">
            <a:extLst>
              <a:ext uri="{FF2B5EF4-FFF2-40B4-BE49-F238E27FC236}">
                <a16:creationId xmlns:a16="http://schemas.microsoft.com/office/drawing/2014/main" id="{22D69D5A-47F5-1709-3DFC-91D30179679A}"/>
              </a:ext>
            </a:extLst>
          </p:cNvPr>
          <p:cNvSpPr/>
          <p:nvPr/>
        </p:nvSpPr>
        <p:spPr>
          <a:xfrm>
            <a:off x="4424850" y="3445995"/>
            <a:ext cx="536621" cy="268279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cAdvisor</a:t>
            </a:r>
            <a:endParaRPr lang="en-US" sz="850" dirty="0"/>
          </a:p>
        </p:txBody>
      </p:sp>
      <p:sp>
        <p:nvSpPr>
          <p:cNvPr id="79" name="Text 35">
            <a:extLst>
              <a:ext uri="{FF2B5EF4-FFF2-40B4-BE49-F238E27FC236}">
                <a16:creationId xmlns:a16="http://schemas.microsoft.com/office/drawing/2014/main" id="{7ADF45D4-A678-9E01-6FEC-977913A7E10E}"/>
              </a:ext>
            </a:extLst>
          </p:cNvPr>
          <p:cNvSpPr/>
          <p:nvPr/>
        </p:nvSpPr>
        <p:spPr>
          <a:xfrm>
            <a:off x="5396490" y="3445995"/>
            <a:ext cx="621580" cy="268279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ai-cadvisor</a:t>
            </a:r>
            <a:endParaRPr lang="en-US" sz="850" dirty="0"/>
          </a:p>
        </p:txBody>
      </p:sp>
      <p:sp>
        <p:nvSpPr>
          <p:cNvPr id="80" name="Text 36">
            <a:extLst>
              <a:ext uri="{FF2B5EF4-FFF2-40B4-BE49-F238E27FC236}">
                <a16:creationId xmlns:a16="http://schemas.microsoft.com/office/drawing/2014/main" id="{9CD3B4BA-7691-6A66-6DCE-7D07838A728E}"/>
              </a:ext>
            </a:extLst>
          </p:cNvPr>
          <p:cNvSpPr/>
          <p:nvPr/>
        </p:nvSpPr>
        <p:spPr>
          <a:xfrm>
            <a:off x="6228174" y="3445995"/>
            <a:ext cx="2765217" cy="268279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Container metrics exporter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451938DF-740D-C251-30AB-E17759A431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15744"/>
            <a:ext cx="9144000" cy="152645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000125"/>
          </a:xfrm>
          <a:prstGeom prst="rect">
            <a:avLst/>
          </a:prstGeom>
          <a:solidFill>
            <a:srgbClr val="1A3673"/>
          </a:solidFill>
          <a:ln/>
        </p:spPr>
      </p:sp>
      <p:sp>
        <p:nvSpPr>
          <p:cNvPr id="4" name="Text 1"/>
          <p:cNvSpPr/>
          <p:nvPr/>
        </p:nvSpPr>
        <p:spPr>
          <a:xfrm>
            <a:off x="571500" y="285750"/>
            <a:ext cx="8572500" cy="3446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Network Virtualization &amp; Security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>
            <a:off x="7000875" y="0"/>
            <a:ext cx="2143125" cy="1000125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6" name="Text 3"/>
          <p:cNvSpPr/>
          <p:nvPr/>
        </p:nvSpPr>
        <p:spPr>
          <a:xfrm>
            <a:off x="553332" y="1125401"/>
            <a:ext cx="2557351" cy="316111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36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Software-Defined Networking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332" y="1490525"/>
            <a:ext cx="178594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39082" y="1490525"/>
            <a:ext cx="342900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1A36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Custom Bridge Network:</a:t>
            </a:r>
            <a:r>
              <a:rPr lang="en-US" sz="9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Isolated virtual network (`app-network`) with defined subnet.</a:t>
            </a:r>
            <a:endParaRPr lang="en-US" sz="9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332" y="1983444"/>
            <a:ext cx="160734" cy="1714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21223" y="1983444"/>
            <a:ext cx="3446859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1A36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DNS Hostnames:</a:t>
            </a:r>
            <a:r>
              <a:rPr lang="en-US" sz="9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Services communicate via names (e.g., `api-backend:8000`) instead of hardcoded IPs.</a:t>
            </a:r>
            <a:endParaRPr lang="en-US" sz="900" dirty="0"/>
          </a:p>
        </p:txBody>
      </p:sp>
      <p:sp>
        <p:nvSpPr>
          <p:cNvPr id="13" name="Text 6"/>
          <p:cNvSpPr/>
          <p:nvPr/>
        </p:nvSpPr>
        <p:spPr>
          <a:xfrm>
            <a:off x="550323" y="2536361"/>
            <a:ext cx="1717207" cy="316111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36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Security Techniques</a:t>
            </a:r>
            <a:endParaRPr lang="en-US" sz="140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0323" y="2843956"/>
            <a:ext cx="142875" cy="17145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800354" y="2843956"/>
            <a:ext cx="3464719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1A36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Access Control:</a:t>
            </a:r>
            <a:r>
              <a:rPr lang="en-US" sz="9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Only NGINX and Grafana are exposed; Backend and DB remain internal-only.</a:t>
            </a:r>
            <a:endParaRPr lang="en-US" sz="900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0323" y="3336875"/>
            <a:ext cx="160734" cy="171450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818214" y="3336875"/>
            <a:ext cx="3446859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1A36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Rate Limiting:</a:t>
            </a:r>
            <a:r>
              <a:rPr lang="en-US" sz="9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NGINX enforces 30 requests/sec per IP to prevent DDoS and abuse.</a:t>
            </a:r>
            <a:endParaRPr lang="en-US" sz="900" dirty="0"/>
          </a:p>
        </p:txBody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0323" y="3829793"/>
            <a:ext cx="125016" cy="171450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782495" y="3829793"/>
            <a:ext cx="348257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1A36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SSL/TLS Encryption:</a:t>
            </a:r>
            <a:r>
              <a:rPr lang="en-US" sz="9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End-to-end encryption via Let's Encrypt certificates.</a:t>
            </a:r>
            <a:endParaRPr lang="en-US" sz="900" dirty="0"/>
          </a:p>
        </p:txBody>
      </p:sp>
      <p:sp>
        <p:nvSpPr>
          <p:cNvPr id="20" name="Shape 10"/>
          <p:cNvSpPr/>
          <p:nvPr/>
        </p:nvSpPr>
        <p:spPr>
          <a:xfrm>
            <a:off x="5858063" y="1276992"/>
            <a:ext cx="2099033" cy="25076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1" name="Text 11"/>
          <p:cNvSpPr/>
          <p:nvPr/>
        </p:nvSpPr>
        <p:spPr>
          <a:xfrm>
            <a:off x="5824756" y="1253770"/>
            <a:ext cx="2180785" cy="238014"/>
          </a:xfrm>
          <a:prstGeom prst="rect">
            <a:avLst/>
          </a:prstGeom>
          <a:noFill/>
          <a:ln/>
        </p:spPr>
        <p:txBody>
          <a:bodyPr wrap="square" lIns="127508" tIns="68072" rIns="127508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Architecture Flowchart</a:t>
            </a:r>
            <a:endParaRPr lang="en-US" sz="1100" dirty="0">
              <a:solidFill>
                <a:schemeClr val="bg1"/>
              </a:solidFill>
            </a:endParaRPr>
          </a:p>
        </p:txBody>
      </p:sp>
      <p:pic>
        <p:nvPicPr>
          <p:cNvPr id="30" name="Picture 29" descr="A diagram of a software application">
            <a:extLst>
              <a:ext uri="{FF2B5EF4-FFF2-40B4-BE49-F238E27FC236}">
                <a16:creationId xmlns:a16="http://schemas.microsoft.com/office/drawing/2014/main" id="{E28610B9-A45C-427E-B9C4-168CD4244C2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19461" y="1655255"/>
            <a:ext cx="2953623" cy="332064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6F84D819-DE1E-8980-CC98-D4B3F43D64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20070"/>
            <a:ext cx="9144000" cy="152645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000125"/>
          </a:xfrm>
          <a:prstGeom prst="rect">
            <a:avLst/>
          </a:prstGeom>
          <a:solidFill>
            <a:srgbClr val="1A3673"/>
          </a:solidFill>
          <a:ln/>
        </p:spPr>
      </p:sp>
      <p:sp>
        <p:nvSpPr>
          <p:cNvPr id="4" name="Text 1"/>
          <p:cNvSpPr/>
          <p:nvPr/>
        </p:nvSpPr>
        <p:spPr>
          <a:xfrm>
            <a:off x="571500" y="285750"/>
            <a:ext cx="8572500" cy="3446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Persistence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>
            <a:off x="7000875" y="0"/>
            <a:ext cx="2143125" cy="1000125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6" name="Text 3"/>
          <p:cNvSpPr/>
          <p:nvPr/>
        </p:nvSpPr>
        <p:spPr>
          <a:xfrm>
            <a:off x="842963" y="1500188"/>
            <a:ext cx="7729538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36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Concept: Persistent Block Storage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42963" y="1802011"/>
            <a:ext cx="7729538" cy="3681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 ensure application data survives service restarts, we use </a:t>
            </a:r>
            <a:r>
              <a:rPr lang="en-US" sz="1050" b="1" dirty="0">
                <a:solidFill>
                  <a:srgbClr val="4CAF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named Docker volumes</a:t>
            </a:r>
            <a:r>
              <a:rPr lang="en-US" sz="11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 These act like cloud block storage, providing durability independent of the container lifecycle.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71500" y="2630686"/>
            <a:ext cx="2524116" cy="2028825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9" name="Shape 6"/>
          <p:cNvSpPr/>
          <p:nvPr/>
        </p:nvSpPr>
        <p:spPr>
          <a:xfrm>
            <a:off x="571500" y="2630686"/>
            <a:ext cx="2524116" cy="28575"/>
          </a:xfrm>
          <a:prstGeom prst="rect">
            <a:avLst/>
          </a:prstGeom>
          <a:solidFill>
            <a:srgbClr val="1A3673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094" y="2852142"/>
            <a:ext cx="225028" cy="25717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50094" y="3282553"/>
            <a:ext cx="2166928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36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chroma_data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750094" y="3570089"/>
            <a:ext cx="2166928" cy="567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Stores </a:t>
            </a:r>
            <a:r>
              <a:rPr lang="en-US" sz="1050" b="1" dirty="0">
                <a:solidFill>
                  <a:srgbClr val="4CAF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1,781 learning documents</a:t>
            </a:r>
            <a:r>
              <a:rPr lang="en-US" sz="105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for the vector database, ensuring the AI knowledge base is always available.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3309928" y="2630686"/>
            <a:ext cx="2524116" cy="2028825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4" name="Shape 10"/>
          <p:cNvSpPr/>
          <p:nvPr/>
        </p:nvSpPr>
        <p:spPr>
          <a:xfrm>
            <a:off x="3309928" y="2630686"/>
            <a:ext cx="2524116" cy="28575"/>
          </a:xfrm>
          <a:prstGeom prst="rect">
            <a:avLst/>
          </a:prstGeom>
          <a:solidFill>
            <a:srgbClr val="1A3673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8522" y="2852142"/>
            <a:ext cx="257175" cy="25717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488522" y="3282553"/>
            <a:ext cx="2166928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36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prometheus_data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3488522" y="3570089"/>
            <a:ext cx="2166928" cy="567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Preserves </a:t>
            </a:r>
            <a:r>
              <a:rPr lang="en-US" sz="1050" b="1" dirty="0">
                <a:solidFill>
                  <a:srgbClr val="4CAF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time-series metrics history</a:t>
            </a:r>
            <a:r>
              <a:rPr lang="en-US" sz="105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allowing for continuous and historical monitoring data.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6048356" y="2630686"/>
            <a:ext cx="2524144" cy="2028825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9" name="Shape 14"/>
          <p:cNvSpPr/>
          <p:nvPr/>
        </p:nvSpPr>
        <p:spPr>
          <a:xfrm>
            <a:off x="6048356" y="2630686"/>
            <a:ext cx="2524144" cy="28575"/>
          </a:xfrm>
          <a:prstGeom prst="rect">
            <a:avLst/>
          </a:prstGeom>
          <a:solidFill>
            <a:srgbClr val="1A3673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6950" y="2852142"/>
            <a:ext cx="257175" cy="25717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226950" y="3282553"/>
            <a:ext cx="2166956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36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grafana_data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6226950" y="3570089"/>
            <a:ext cx="2166956" cy="567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Retains </a:t>
            </a:r>
            <a:r>
              <a:rPr lang="en-US" sz="1050" b="1" dirty="0">
                <a:solidFill>
                  <a:srgbClr val="4CAF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dashboard configurations</a:t>
            </a:r>
            <a:r>
              <a:rPr lang="en-US" sz="105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and data sources, so monitoring setups are never lost.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45">
            <a:extLst>
              <a:ext uri="{FF2B5EF4-FFF2-40B4-BE49-F238E27FC236}">
                <a16:creationId xmlns:a16="http://schemas.microsoft.com/office/drawing/2014/main" id="{69864E0B-32F5-8FA6-BA94-14C68D70B9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19563"/>
            <a:ext cx="9144000" cy="152645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000125"/>
          </a:xfrm>
          <a:prstGeom prst="rect">
            <a:avLst/>
          </a:prstGeom>
          <a:solidFill>
            <a:srgbClr val="1A3673"/>
          </a:solidFill>
          <a:ln/>
        </p:spPr>
      </p:sp>
      <p:sp>
        <p:nvSpPr>
          <p:cNvPr id="4" name="Text 1"/>
          <p:cNvSpPr/>
          <p:nvPr/>
        </p:nvSpPr>
        <p:spPr>
          <a:xfrm>
            <a:off x="571500" y="285750"/>
            <a:ext cx="8572500" cy="3446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Resource Management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>
            <a:off x="7000875" y="0"/>
            <a:ext cx="2143125" cy="1000125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6" name="Text 3"/>
          <p:cNvSpPr/>
          <p:nvPr/>
        </p:nvSpPr>
        <p:spPr>
          <a:xfrm>
            <a:off x="464968" y="1119804"/>
            <a:ext cx="2973650" cy="332142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36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Service Resource Boundaries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886290" y="3808283"/>
            <a:ext cx="7133205" cy="391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Explicit boundaries prevent </a:t>
            </a:r>
            <a:r>
              <a:rPr lang="en-US" sz="1100" b="1" dirty="0">
                <a:solidFill>
                  <a:srgbClr val="4CAF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"noisy neighbor"</a:t>
            </a:r>
            <a:r>
              <a:rPr lang="en-US" sz="11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issues where one service starves others. This ensures </a:t>
            </a:r>
            <a:r>
              <a:rPr lang="en-US" sz="1100" b="1" dirty="0">
                <a:solidFill>
                  <a:srgbClr val="4CAF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fair allocation</a:t>
            </a:r>
            <a:r>
              <a:rPr lang="en-US" sz="11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and stable performance across our multi-tenant cloud environment.</a:t>
            </a:r>
            <a:endParaRPr lang="en-US" sz="1100" b="1" dirty="0"/>
          </a:p>
        </p:txBody>
      </p:sp>
      <p:sp>
        <p:nvSpPr>
          <p:cNvPr id="47" name="Shape 2"/>
          <p:cNvSpPr/>
          <p:nvPr/>
        </p:nvSpPr>
        <p:spPr>
          <a:xfrm>
            <a:off x="432197" y="1497297"/>
            <a:ext cx="2050424" cy="341114"/>
          </a:xfrm>
          <a:prstGeom prst="rect">
            <a:avLst/>
          </a:prstGeom>
          <a:solidFill>
            <a:srgbClr val="1A3673"/>
          </a:solidFill>
          <a:ln w="9144">
            <a:solidFill>
              <a:srgbClr val="1A3673"/>
            </a:solidFill>
            <a:prstDash val="solid"/>
          </a:ln>
        </p:spPr>
      </p:sp>
      <p:sp>
        <p:nvSpPr>
          <p:cNvPr id="48" name="Text 3"/>
          <p:cNvSpPr/>
          <p:nvPr/>
        </p:nvSpPr>
        <p:spPr>
          <a:xfrm>
            <a:off x="432197" y="1497297"/>
            <a:ext cx="2050424" cy="34111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Service</a:t>
            </a:r>
            <a:endParaRPr lang="en-US" sz="1000" dirty="0"/>
          </a:p>
        </p:txBody>
      </p:sp>
      <p:sp>
        <p:nvSpPr>
          <p:cNvPr id="49" name="Shape 4"/>
          <p:cNvSpPr/>
          <p:nvPr/>
        </p:nvSpPr>
        <p:spPr>
          <a:xfrm>
            <a:off x="2482621" y="1497297"/>
            <a:ext cx="1763530" cy="341114"/>
          </a:xfrm>
          <a:prstGeom prst="rect">
            <a:avLst/>
          </a:prstGeom>
          <a:solidFill>
            <a:srgbClr val="1A3673"/>
          </a:solidFill>
          <a:ln w="9144">
            <a:solidFill>
              <a:srgbClr val="1A3673"/>
            </a:solidFill>
            <a:prstDash val="solid"/>
          </a:ln>
        </p:spPr>
      </p:sp>
      <p:sp>
        <p:nvSpPr>
          <p:cNvPr id="50" name="Text 5"/>
          <p:cNvSpPr/>
          <p:nvPr/>
        </p:nvSpPr>
        <p:spPr>
          <a:xfrm>
            <a:off x="2482621" y="1497297"/>
            <a:ext cx="1763530" cy="34111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CPU Limit</a:t>
            </a:r>
            <a:endParaRPr lang="en-US" sz="1000" dirty="0"/>
          </a:p>
        </p:txBody>
      </p:sp>
      <p:sp>
        <p:nvSpPr>
          <p:cNvPr id="51" name="Shape 6"/>
          <p:cNvSpPr/>
          <p:nvPr/>
        </p:nvSpPr>
        <p:spPr>
          <a:xfrm>
            <a:off x="4242132" y="1497297"/>
            <a:ext cx="2243026" cy="341114"/>
          </a:xfrm>
          <a:prstGeom prst="rect">
            <a:avLst/>
          </a:prstGeom>
          <a:solidFill>
            <a:srgbClr val="1A3673"/>
          </a:solidFill>
          <a:ln w="9144">
            <a:solidFill>
              <a:srgbClr val="1A3673"/>
            </a:solidFill>
            <a:prstDash val="solid"/>
          </a:ln>
        </p:spPr>
      </p:sp>
      <p:sp>
        <p:nvSpPr>
          <p:cNvPr id="52" name="Text 7"/>
          <p:cNvSpPr/>
          <p:nvPr/>
        </p:nvSpPr>
        <p:spPr>
          <a:xfrm>
            <a:off x="4242132" y="1497297"/>
            <a:ext cx="2243026" cy="34111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Memory Limit</a:t>
            </a:r>
            <a:endParaRPr lang="en-US" sz="1000" dirty="0"/>
          </a:p>
        </p:txBody>
      </p:sp>
      <p:sp>
        <p:nvSpPr>
          <p:cNvPr id="53" name="Shape 8"/>
          <p:cNvSpPr/>
          <p:nvPr/>
        </p:nvSpPr>
        <p:spPr>
          <a:xfrm>
            <a:off x="6481167" y="1497297"/>
            <a:ext cx="2230636" cy="341114"/>
          </a:xfrm>
          <a:prstGeom prst="rect">
            <a:avLst/>
          </a:prstGeom>
          <a:solidFill>
            <a:srgbClr val="1A3673"/>
          </a:solidFill>
          <a:ln w="9144">
            <a:solidFill>
              <a:srgbClr val="1A3673"/>
            </a:solidFill>
            <a:prstDash val="solid"/>
          </a:ln>
        </p:spPr>
      </p:sp>
      <p:sp>
        <p:nvSpPr>
          <p:cNvPr id="54" name="Text 9"/>
          <p:cNvSpPr/>
          <p:nvPr/>
        </p:nvSpPr>
        <p:spPr>
          <a:xfrm>
            <a:off x="6481167" y="1497297"/>
            <a:ext cx="2230636" cy="34111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CPU Reserved</a:t>
            </a:r>
            <a:endParaRPr lang="en-US" sz="1000" dirty="0"/>
          </a:p>
        </p:txBody>
      </p:sp>
      <p:sp>
        <p:nvSpPr>
          <p:cNvPr id="55" name="Text 10"/>
          <p:cNvSpPr/>
          <p:nvPr/>
        </p:nvSpPr>
        <p:spPr>
          <a:xfrm>
            <a:off x="432197" y="1831267"/>
            <a:ext cx="2061502" cy="31253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API Backend</a:t>
            </a:r>
            <a:endParaRPr lang="en-US" sz="1050" dirty="0"/>
          </a:p>
        </p:txBody>
      </p:sp>
      <p:sp>
        <p:nvSpPr>
          <p:cNvPr id="56" name="Text 11"/>
          <p:cNvSpPr/>
          <p:nvPr/>
        </p:nvSpPr>
        <p:spPr>
          <a:xfrm>
            <a:off x="2493699" y="1831267"/>
            <a:ext cx="1758144" cy="31253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2.0 cores</a:t>
            </a:r>
            <a:endParaRPr lang="en-US" sz="1050" dirty="0"/>
          </a:p>
        </p:txBody>
      </p:sp>
      <p:sp>
        <p:nvSpPr>
          <p:cNvPr id="57" name="Text 12"/>
          <p:cNvSpPr/>
          <p:nvPr/>
        </p:nvSpPr>
        <p:spPr>
          <a:xfrm>
            <a:off x="4251843" y="1831267"/>
            <a:ext cx="2238198" cy="31253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 GB</a:t>
            </a:r>
            <a:endParaRPr lang="en-US" sz="1050" dirty="0"/>
          </a:p>
        </p:txBody>
      </p:sp>
      <p:sp>
        <p:nvSpPr>
          <p:cNvPr id="58" name="Text 13"/>
          <p:cNvSpPr/>
          <p:nvPr/>
        </p:nvSpPr>
        <p:spPr>
          <a:xfrm>
            <a:off x="6490041" y="1831267"/>
            <a:ext cx="2221762" cy="31253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1.0 cores</a:t>
            </a:r>
            <a:endParaRPr lang="en-US" sz="1050" dirty="0"/>
          </a:p>
        </p:txBody>
      </p:sp>
      <p:sp>
        <p:nvSpPr>
          <p:cNvPr id="59" name="Shape 14"/>
          <p:cNvSpPr/>
          <p:nvPr/>
        </p:nvSpPr>
        <p:spPr>
          <a:xfrm>
            <a:off x="432197" y="2143806"/>
            <a:ext cx="8279606" cy="312539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60" name="Text 15"/>
          <p:cNvSpPr/>
          <p:nvPr/>
        </p:nvSpPr>
        <p:spPr>
          <a:xfrm>
            <a:off x="432197" y="2143806"/>
            <a:ext cx="2061502" cy="31253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Frontend UI</a:t>
            </a:r>
            <a:endParaRPr lang="en-US" sz="1050" dirty="0"/>
          </a:p>
        </p:txBody>
      </p:sp>
      <p:sp>
        <p:nvSpPr>
          <p:cNvPr id="61" name="Text 16"/>
          <p:cNvSpPr/>
          <p:nvPr/>
        </p:nvSpPr>
        <p:spPr>
          <a:xfrm>
            <a:off x="2493699" y="2143806"/>
            <a:ext cx="1758144" cy="31253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1.0 cores</a:t>
            </a:r>
            <a:endParaRPr lang="en-US" sz="1050" dirty="0"/>
          </a:p>
        </p:txBody>
      </p:sp>
      <p:sp>
        <p:nvSpPr>
          <p:cNvPr id="62" name="Text 17"/>
          <p:cNvSpPr/>
          <p:nvPr/>
        </p:nvSpPr>
        <p:spPr>
          <a:xfrm>
            <a:off x="4251843" y="2143806"/>
            <a:ext cx="2238198" cy="31253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 GB</a:t>
            </a:r>
            <a:endParaRPr lang="en-US" sz="1050" dirty="0"/>
          </a:p>
        </p:txBody>
      </p:sp>
      <p:sp>
        <p:nvSpPr>
          <p:cNvPr id="63" name="Text 18"/>
          <p:cNvSpPr/>
          <p:nvPr/>
        </p:nvSpPr>
        <p:spPr>
          <a:xfrm>
            <a:off x="6490041" y="2143806"/>
            <a:ext cx="2221762" cy="31253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0.5 cores</a:t>
            </a:r>
            <a:endParaRPr lang="en-US" sz="1050" dirty="0"/>
          </a:p>
        </p:txBody>
      </p:sp>
      <p:sp>
        <p:nvSpPr>
          <p:cNvPr id="64" name="Text 19"/>
          <p:cNvSpPr/>
          <p:nvPr/>
        </p:nvSpPr>
        <p:spPr>
          <a:xfrm>
            <a:off x="432197" y="2456345"/>
            <a:ext cx="2061502" cy="31253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ChromaDB</a:t>
            </a:r>
            <a:endParaRPr lang="en-US" sz="1050" dirty="0"/>
          </a:p>
        </p:txBody>
      </p:sp>
      <p:sp>
        <p:nvSpPr>
          <p:cNvPr id="65" name="Text 20"/>
          <p:cNvSpPr/>
          <p:nvPr/>
        </p:nvSpPr>
        <p:spPr>
          <a:xfrm>
            <a:off x="2493699" y="2456345"/>
            <a:ext cx="1758144" cy="31253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2.0 cores</a:t>
            </a:r>
            <a:endParaRPr lang="en-US" sz="1050" dirty="0"/>
          </a:p>
        </p:txBody>
      </p:sp>
      <p:sp>
        <p:nvSpPr>
          <p:cNvPr id="66" name="Text 21"/>
          <p:cNvSpPr/>
          <p:nvPr/>
        </p:nvSpPr>
        <p:spPr>
          <a:xfrm>
            <a:off x="4251843" y="2456345"/>
            <a:ext cx="2238198" cy="31253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 GB</a:t>
            </a:r>
            <a:endParaRPr lang="en-US" sz="1050" dirty="0"/>
          </a:p>
        </p:txBody>
      </p:sp>
      <p:sp>
        <p:nvSpPr>
          <p:cNvPr id="67" name="Text 22"/>
          <p:cNvSpPr/>
          <p:nvPr/>
        </p:nvSpPr>
        <p:spPr>
          <a:xfrm>
            <a:off x="6490041" y="2456345"/>
            <a:ext cx="2221762" cy="31253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0.5 cores</a:t>
            </a:r>
            <a:endParaRPr lang="en-US" sz="1050" dirty="0"/>
          </a:p>
        </p:txBody>
      </p:sp>
      <p:sp>
        <p:nvSpPr>
          <p:cNvPr id="68" name="Shape 23"/>
          <p:cNvSpPr/>
          <p:nvPr/>
        </p:nvSpPr>
        <p:spPr>
          <a:xfrm>
            <a:off x="432197" y="2768884"/>
            <a:ext cx="8279606" cy="312539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69" name="Text 24"/>
          <p:cNvSpPr/>
          <p:nvPr/>
        </p:nvSpPr>
        <p:spPr>
          <a:xfrm>
            <a:off x="432197" y="2768884"/>
            <a:ext cx="2061502" cy="31253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NGINX Proxy</a:t>
            </a:r>
            <a:endParaRPr lang="en-US" sz="1050" dirty="0"/>
          </a:p>
        </p:txBody>
      </p:sp>
      <p:sp>
        <p:nvSpPr>
          <p:cNvPr id="70" name="Text 25"/>
          <p:cNvSpPr/>
          <p:nvPr/>
        </p:nvSpPr>
        <p:spPr>
          <a:xfrm>
            <a:off x="2493699" y="2768884"/>
            <a:ext cx="1758144" cy="31253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0.5 cores</a:t>
            </a:r>
            <a:endParaRPr lang="en-US" sz="1050" dirty="0"/>
          </a:p>
        </p:txBody>
      </p:sp>
      <p:sp>
        <p:nvSpPr>
          <p:cNvPr id="71" name="Text 26"/>
          <p:cNvSpPr/>
          <p:nvPr/>
        </p:nvSpPr>
        <p:spPr>
          <a:xfrm>
            <a:off x="4251843" y="2768884"/>
            <a:ext cx="2238198" cy="31253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256 MB</a:t>
            </a:r>
            <a:endParaRPr lang="en-US" sz="1050" dirty="0"/>
          </a:p>
        </p:txBody>
      </p:sp>
      <p:sp>
        <p:nvSpPr>
          <p:cNvPr id="72" name="Text 27"/>
          <p:cNvSpPr/>
          <p:nvPr/>
        </p:nvSpPr>
        <p:spPr>
          <a:xfrm>
            <a:off x="6490041" y="2768884"/>
            <a:ext cx="2221762" cy="31253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</a:t>
            </a:r>
            <a:endParaRPr lang="en-US" sz="1050" dirty="0"/>
          </a:p>
        </p:txBody>
      </p:sp>
      <p:sp>
        <p:nvSpPr>
          <p:cNvPr id="73" name="Text 28"/>
          <p:cNvSpPr/>
          <p:nvPr/>
        </p:nvSpPr>
        <p:spPr>
          <a:xfrm>
            <a:off x="432197" y="3081423"/>
            <a:ext cx="2061502" cy="31253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Prometheus</a:t>
            </a:r>
            <a:endParaRPr lang="en-US" sz="1050" dirty="0"/>
          </a:p>
        </p:txBody>
      </p:sp>
      <p:sp>
        <p:nvSpPr>
          <p:cNvPr id="74" name="Text 29"/>
          <p:cNvSpPr/>
          <p:nvPr/>
        </p:nvSpPr>
        <p:spPr>
          <a:xfrm>
            <a:off x="2493699" y="3081423"/>
            <a:ext cx="1758144" cy="31253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0.5 cores</a:t>
            </a:r>
            <a:endParaRPr lang="en-US" sz="1050" dirty="0"/>
          </a:p>
        </p:txBody>
      </p:sp>
      <p:sp>
        <p:nvSpPr>
          <p:cNvPr id="75" name="Text 30"/>
          <p:cNvSpPr/>
          <p:nvPr/>
        </p:nvSpPr>
        <p:spPr>
          <a:xfrm>
            <a:off x="4251843" y="3081423"/>
            <a:ext cx="2238198" cy="31253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512 MB</a:t>
            </a:r>
            <a:endParaRPr lang="en-US" sz="1050" dirty="0"/>
          </a:p>
        </p:txBody>
      </p:sp>
      <p:sp>
        <p:nvSpPr>
          <p:cNvPr id="76" name="Text 31"/>
          <p:cNvSpPr/>
          <p:nvPr/>
        </p:nvSpPr>
        <p:spPr>
          <a:xfrm>
            <a:off x="6490041" y="3081423"/>
            <a:ext cx="2221762" cy="31253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</a:t>
            </a:r>
            <a:endParaRPr lang="en-US" sz="1050" dirty="0"/>
          </a:p>
        </p:txBody>
      </p:sp>
      <p:sp>
        <p:nvSpPr>
          <p:cNvPr id="77" name="Shape 32"/>
          <p:cNvSpPr/>
          <p:nvPr/>
        </p:nvSpPr>
        <p:spPr>
          <a:xfrm>
            <a:off x="432197" y="3393962"/>
            <a:ext cx="8279606" cy="312539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78" name="Text 33"/>
          <p:cNvSpPr/>
          <p:nvPr/>
        </p:nvSpPr>
        <p:spPr>
          <a:xfrm>
            <a:off x="432197" y="3393962"/>
            <a:ext cx="2061502" cy="31253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Grafana</a:t>
            </a:r>
            <a:endParaRPr lang="en-US" sz="1050" dirty="0"/>
          </a:p>
        </p:txBody>
      </p:sp>
      <p:sp>
        <p:nvSpPr>
          <p:cNvPr id="79" name="Text 34"/>
          <p:cNvSpPr/>
          <p:nvPr/>
        </p:nvSpPr>
        <p:spPr>
          <a:xfrm>
            <a:off x="2493699" y="3393962"/>
            <a:ext cx="1758144" cy="31253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0.5 cores</a:t>
            </a:r>
            <a:endParaRPr lang="en-US" sz="1050" dirty="0"/>
          </a:p>
        </p:txBody>
      </p:sp>
      <p:sp>
        <p:nvSpPr>
          <p:cNvPr id="80" name="Text 35"/>
          <p:cNvSpPr/>
          <p:nvPr/>
        </p:nvSpPr>
        <p:spPr>
          <a:xfrm>
            <a:off x="4251843" y="3393962"/>
            <a:ext cx="2238198" cy="31253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512 MB</a:t>
            </a:r>
            <a:endParaRPr lang="en-US" sz="1050" dirty="0"/>
          </a:p>
        </p:txBody>
      </p:sp>
      <p:sp>
        <p:nvSpPr>
          <p:cNvPr id="81" name="Text 36"/>
          <p:cNvSpPr/>
          <p:nvPr/>
        </p:nvSpPr>
        <p:spPr>
          <a:xfrm>
            <a:off x="6490041" y="3393962"/>
            <a:ext cx="2221762" cy="31253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38143DC1-1C64-C5E7-3A28-730A61D0A8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17042"/>
            <a:ext cx="9144000" cy="152645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000125"/>
          </a:xfrm>
          <a:prstGeom prst="rect">
            <a:avLst/>
          </a:prstGeom>
          <a:solidFill>
            <a:srgbClr val="1A3673"/>
          </a:solidFill>
          <a:ln/>
        </p:spPr>
      </p:sp>
      <p:sp>
        <p:nvSpPr>
          <p:cNvPr id="4" name="Text 1"/>
          <p:cNvSpPr/>
          <p:nvPr/>
        </p:nvSpPr>
        <p:spPr>
          <a:xfrm>
            <a:off x="396906" y="346302"/>
            <a:ext cx="8572500" cy="3231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GB" sz="21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Load Balancing Vs. </a:t>
            </a:r>
            <a:r>
              <a:rPr lang="en-US" sz="2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 Availability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>
            <a:off x="7000875" y="0"/>
            <a:ext cx="2143125" cy="1000125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6" name="Text 3"/>
          <p:cNvSpPr/>
          <p:nvPr/>
        </p:nvSpPr>
        <p:spPr>
          <a:xfrm>
            <a:off x="650964" y="1299958"/>
            <a:ext cx="2241933" cy="301365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 Availability (Option B)</a:t>
            </a:r>
            <a:endParaRPr lang="en-US" sz="1400" dirty="0">
              <a:solidFill>
                <a:srgbClr val="002060"/>
              </a:solidFill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744861"/>
            <a:ext cx="171450" cy="20716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50106" y="1773436"/>
            <a:ext cx="995744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A36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Restart Policies: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1771930" y="1777174"/>
            <a:ext cx="1075330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 7 services use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2767674" y="1771318"/>
            <a:ext cx="197167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restart: unless-stopped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850106" y="1973461"/>
            <a:ext cx="2431889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ensuring automatic recovery from crashes.</a:t>
            </a:r>
            <a:endParaRPr lang="en-US" sz="10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330648"/>
            <a:ext cx="192881" cy="20716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71538" y="2330648"/>
            <a:ext cx="406415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A36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Health Checks:</a:t>
            </a:r>
            <a:r>
              <a:rPr lang="en-US" sz="10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HTTP-based checks verify responsiveness for Backend, Frontend, and ChromaDB every 30 seconds.</a:t>
            </a:r>
            <a:endParaRPr lang="en-US" sz="10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909292"/>
            <a:ext cx="214313" cy="207169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92969" y="2909292"/>
            <a:ext cx="404272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A36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Dependency Chain:</a:t>
            </a:r>
            <a:r>
              <a:rPr lang="en-US" sz="10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Services start in order (e.g., Frontend waits for Backend health) to prevent cascading failures.</a:t>
            </a:r>
            <a:endParaRPr lang="en-US" sz="10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487936"/>
            <a:ext cx="171450" cy="207169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50106" y="3487936"/>
            <a:ext cx="408558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A36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Fault Tolerance:</a:t>
            </a:r>
            <a:r>
              <a:rPr lang="en-US" sz="10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System detects failures and recovers without manual intervention, ensuring 24/7 availability.</a:t>
            </a:r>
            <a:endParaRPr lang="en-US" sz="1000" dirty="0"/>
          </a:p>
        </p:txBody>
      </p:sp>
      <p:sp>
        <p:nvSpPr>
          <p:cNvPr id="19" name="Shape 12"/>
          <p:cNvSpPr/>
          <p:nvPr/>
        </p:nvSpPr>
        <p:spPr>
          <a:xfrm>
            <a:off x="5340564" y="1948016"/>
            <a:ext cx="3172523" cy="21967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0" name="Text 13"/>
          <p:cNvSpPr/>
          <p:nvPr/>
        </p:nvSpPr>
        <p:spPr>
          <a:xfrm>
            <a:off x="5442382" y="1913052"/>
            <a:ext cx="3172523" cy="219670"/>
          </a:xfrm>
          <a:prstGeom prst="rect">
            <a:avLst/>
          </a:prstGeom>
          <a:noFill/>
          <a:ln/>
        </p:spPr>
        <p:txBody>
          <a:bodyPr wrap="square" lIns="170053" tIns="85090" rIns="170053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STATUS: HEALTHY &amp; SELF-HEALING</a:t>
            </a:r>
            <a:endParaRPr lang="en-US" sz="900" dirty="0"/>
          </a:p>
        </p:txBody>
      </p:sp>
      <p:sp>
        <p:nvSpPr>
          <p:cNvPr id="22" name="Text 14"/>
          <p:cNvSpPr/>
          <p:nvPr/>
        </p:nvSpPr>
        <p:spPr>
          <a:xfrm>
            <a:off x="5276982" y="4331534"/>
            <a:ext cx="3214688" cy="2643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Self-healing mechanisms mirror cloud-native recovery patterns like Kubernetes liveness probes.</a:t>
            </a:r>
            <a:endParaRPr lang="en-US" sz="85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BD7E3B6B-B3E0-2E9F-FBFB-DDAD9E9304E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92854" y="2330332"/>
            <a:ext cx="3982943" cy="1912103"/>
          </a:xfrm>
          <a:prstGeom prst="rect">
            <a:avLst/>
          </a:prstGeom>
        </p:spPr>
      </p:pic>
      <p:sp>
        <p:nvSpPr>
          <p:cNvPr id="27" name="Shape 6">
            <a:extLst>
              <a:ext uri="{FF2B5EF4-FFF2-40B4-BE49-F238E27FC236}">
                <a16:creationId xmlns:a16="http://schemas.microsoft.com/office/drawing/2014/main" id="{06E30040-53BC-067F-8128-5B7BFF90FCD8}"/>
              </a:ext>
            </a:extLst>
          </p:cNvPr>
          <p:cNvSpPr/>
          <p:nvPr/>
        </p:nvSpPr>
        <p:spPr>
          <a:xfrm>
            <a:off x="4994983" y="1293345"/>
            <a:ext cx="3707606" cy="44827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28" name="Shape 7">
            <a:extLst>
              <a:ext uri="{FF2B5EF4-FFF2-40B4-BE49-F238E27FC236}">
                <a16:creationId xmlns:a16="http://schemas.microsoft.com/office/drawing/2014/main" id="{BB2FF3D1-0F11-4169-EE5F-E519E3602ECB}"/>
              </a:ext>
            </a:extLst>
          </p:cNvPr>
          <p:cNvSpPr/>
          <p:nvPr/>
        </p:nvSpPr>
        <p:spPr>
          <a:xfrm>
            <a:off x="4994983" y="1293345"/>
            <a:ext cx="35719" cy="44827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9" name="Text 8">
            <a:extLst>
              <a:ext uri="{FF2B5EF4-FFF2-40B4-BE49-F238E27FC236}">
                <a16:creationId xmlns:a16="http://schemas.microsoft.com/office/drawing/2014/main" id="{93D1D64D-74E4-BBC1-8103-4F4330216EDB}"/>
              </a:ext>
            </a:extLst>
          </p:cNvPr>
          <p:cNvSpPr/>
          <p:nvPr/>
        </p:nvSpPr>
        <p:spPr>
          <a:xfrm>
            <a:off x="5137858" y="1380892"/>
            <a:ext cx="342185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Live Agent URL:</a:t>
            </a:r>
            <a:endParaRPr lang="en-US" sz="750" dirty="0"/>
          </a:p>
        </p:txBody>
      </p:sp>
      <p:sp>
        <p:nvSpPr>
          <p:cNvPr id="30" name="Text 9">
            <a:extLst>
              <a:ext uri="{FF2B5EF4-FFF2-40B4-BE49-F238E27FC236}">
                <a16:creationId xmlns:a16="http://schemas.microsoft.com/office/drawing/2014/main" id="{952A2F3A-C488-8511-E385-970BB41D718B}"/>
              </a:ext>
            </a:extLst>
          </p:cNvPr>
          <p:cNvSpPr/>
          <p:nvPr/>
        </p:nvSpPr>
        <p:spPr>
          <a:xfrm>
            <a:off x="5137858" y="1519262"/>
            <a:ext cx="3421856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A367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https://lang-agent-asser.duckdns.org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84096359-2B16-59F6-1A21-5C355E4333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75360"/>
            <a:ext cx="9072559" cy="13681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000125"/>
          </a:xfrm>
          <a:prstGeom prst="rect">
            <a:avLst/>
          </a:prstGeom>
          <a:solidFill>
            <a:srgbClr val="1A3673"/>
          </a:solidFill>
          <a:ln/>
        </p:spPr>
      </p:sp>
      <p:sp>
        <p:nvSpPr>
          <p:cNvPr id="4" name="Text 1"/>
          <p:cNvSpPr/>
          <p:nvPr/>
        </p:nvSpPr>
        <p:spPr>
          <a:xfrm>
            <a:off x="571500" y="285750"/>
            <a:ext cx="8572500" cy="3446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Cloud Deployment: Huawei Cloud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>
            <a:off x="7000875" y="0"/>
            <a:ext cx="2143125" cy="1000125"/>
          </a:xfrm>
          <a:prstGeom prst="rect">
            <a:avLst/>
          </a:prstGeom>
          <a:solidFill>
            <a:srgbClr val="4CAF50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126" y="1269204"/>
            <a:ext cx="200025" cy="2000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92307" y="1254024"/>
            <a:ext cx="1801899" cy="230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36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Infrastructure (IaaS)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347270" y="1572729"/>
            <a:ext cx="3707606" cy="148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CAF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CLOUD PROVIDER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347270" y="1756680"/>
            <a:ext cx="3707606" cy="220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Huawei Cloud ECS (Elastic Cloud Server)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347270" y="2005992"/>
            <a:ext cx="3707606" cy="148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CAF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PUBLIC ACCESS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347270" y="2189944"/>
            <a:ext cx="3707606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IP: 159.138.84.175
Domain: lang-agent-asser.duckdns.org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347270" y="2621401"/>
            <a:ext cx="3707606" cy="148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CAF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SECURITY &amp; ENCRYPTION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347270" y="2805353"/>
            <a:ext cx="2765767" cy="384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SSL/TLS enabled via Let's Encrypt certificates for secure HTTPS communication.</a:t>
            </a:r>
            <a:endParaRPr lang="en-US" sz="11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7042" y="3240695"/>
            <a:ext cx="200025" cy="20002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134223" y="3225515"/>
            <a:ext cx="1772292" cy="230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36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Deployment Pipeline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4832863" y="3538398"/>
            <a:ext cx="3707606" cy="148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Automated workflow for production updates: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4857750" y="3832008"/>
            <a:ext cx="3707606" cy="1025742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8" name="Shape 13"/>
          <p:cNvSpPr/>
          <p:nvPr/>
        </p:nvSpPr>
        <p:spPr>
          <a:xfrm>
            <a:off x="4832863" y="3860763"/>
            <a:ext cx="35719" cy="950119"/>
          </a:xfrm>
          <a:prstGeom prst="rect">
            <a:avLst/>
          </a:prstGeom>
          <a:solidFill>
            <a:srgbClr val="1A3673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5738" y="3960772"/>
            <a:ext cx="62508" cy="100013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109683" y="3936662"/>
            <a:ext cx="1731355" cy="148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Local Docker Build &amp; Tagging</a:t>
            </a:r>
            <a:endParaRPr lang="en-US" sz="95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75738" y="4180442"/>
            <a:ext cx="62508" cy="100013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109683" y="4156332"/>
            <a:ext cx="1807257" cy="148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Push to Huawei SWR (Registry)</a:t>
            </a:r>
            <a:endParaRPr lang="en-US" sz="95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75738" y="4400113"/>
            <a:ext cx="62508" cy="100013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5109683" y="4376002"/>
            <a:ext cx="1657210" cy="148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Remote Pull on ECS Instance</a:t>
            </a:r>
            <a:endParaRPr lang="en-US" sz="950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75738" y="4619783"/>
            <a:ext cx="62508" cy="100013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5109683" y="4595673"/>
            <a:ext cx="2074813" cy="148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Container Orchestration via Compose</a:t>
            </a:r>
            <a:endParaRPr lang="en-US" sz="950" dirty="0"/>
          </a:p>
        </p:txBody>
      </p:sp>
      <p:sp>
        <p:nvSpPr>
          <p:cNvPr id="27" name="Text 18"/>
          <p:cNvSpPr/>
          <p:nvPr/>
        </p:nvSpPr>
        <p:spPr>
          <a:xfrm>
            <a:off x="327839" y="3501163"/>
            <a:ext cx="3707606" cy="296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Demonstrates real-world cloud engineering practices including public networking, DNS, and container registries.</a:t>
            </a:r>
            <a:endParaRPr lang="en-US" sz="95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EF922DA4-D32B-E271-ED89-8B3D6E3CD94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38308" y="1268000"/>
            <a:ext cx="5590437" cy="184357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CAED3019-2831-073D-4679-6ABD33C650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17042"/>
            <a:ext cx="9144000" cy="152645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000125"/>
          </a:xfrm>
          <a:prstGeom prst="rect">
            <a:avLst/>
          </a:prstGeom>
          <a:solidFill>
            <a:srgbClr val="1A3673"/>
          </a:solidFill>
          <a:ln/>
        </p:spPr>
      </p:sp>
      <p:sp>
        <p:nvSpPr>
          <p:cNvPr id="4" name="Text 1"/>
          <p:cNvSpPr/>
          <p:nvPr/>
        </p:nvSpPr>
        <p:spPr>
          <a:xfrm>
            <a:off x="571500" y="285750"/>
            <a:ext cx="8572500" cy="3446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Bonus: Monitoring &amp; Kubernetes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>
            <a:off x="7000875" y="0"/>
            <a:ext cx="2143125" cy="1000125"/>
          </a:xfrm>
          <a:prstGeom prst="rect">
            <a:avLst/>
          </a:prstGeom>
          <a:solidFill>
            <a:srgbClr val="4CAF50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35" y="2699046"/>
            <a:ext cx="200025" cy="2000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14616" y="2683866"/>
            <a:ext cx="1933556" cy="230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36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Live Monitoring Stack</a:t>
            </a:r>
            <a:endParaRPr lang="en-US" sz="14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787" y="2993836"/>
            <a:ext cx="142875" cy="1714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45818" y="2993836"/>
            <a:ext cx="345757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1A36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Full Observability:</a:t>
            </a:r>
            <a:r>
              <a:rPr lang="en-US" sz="9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Integrated Grafana + Prometheus + cAdvisor pipeline for real-time metrics.</a:t>
            </a:r>
            <a:endParaRPr lang="en-US" sz="9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787" y="3417640"/>
            <a:ext cx="142875" cy="1714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45818" y="3405992"/>
            <a:ext cx="345757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1A36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Metric Panels:</a:t>
            </a:r>
            <a:r>
              <a:rPr lang="en-US" sz="9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6 live panels visualizing CPU/Memory compliance, Network I/O, and Container Status.</a:t>
            </a:r>
            <a:endParaRPr lang="en-US" sz="900" dirty="0"/>
          </a:p>
        </p:txBody>
      </p:sp>
      <p:sp>
        <p:nvSpPr>
          <p:cNvPr id="12" name="Shape 6"/>
          <p:cNvSpPr/>
          <p:nvPr/>
        </p:nvSpPr>
        <p:spPr>
          <a:xfrm>
            <a:off x="4788224" y="1226369"/>
            <a:ext cx="3707606" cy="44827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3" name="Shape 7"/>
          <p:cNvSpPr/>
          <p:nvPr/>
        </p:nvSpPr>
        <p:spPr>
          <a:xfrm>
            <a:off x="4788224" y="1226369"/>
            <a:ext cx="35719" cy="44827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4" name="Text 8"/>
          <p:cNvSpPr/>
          <p:nvPr/>
        </p:nvSpPr>
        <p:spPr>
          <a:xfrm>
            <a:off x="4931099" y="1313916"/>
            <a:ext cx="342185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Live Dashboard URL:</a:t>
            </a:r>
            <a:endParaRPr lang="en-US" sz="750" dirty="0"/>
          </a:p>
        </p:txBody>
      </p:sp>
      <p:sp>
        <p:nvSpPr>
          <p:cNvPr id="15" name="Text 9"/>
          <p:cNvSpPr/>
          <p:nvPr/>
        </p:nvSpPr>
        <p:spPr>
          <a:xfrm>
            <a:off x="4931099" y="1452286"/>
            <a:ext cx="3421856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A367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https://lang-agent-asser.duckdns.org/stats/</a:t>
            </a:r>
            <a:endParaRPr lang="en-US" sz="8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679" y="1187666"/>
            <a:ext cx="225028" cy="20002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64863" y="1172486"/>
            <a:ext cx="2072246" cy="230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36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Kubernetes Deployment</a:t>
            </a:r>
            <a:endParaRPr lang="en-US" sz="14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0647" y="1491194"/>
            <a:ext cx="160734" cy="17145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68537" y="1491194"/>
            <a:ext cx="3439716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1A36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Orchestration:</a:t>
            </a:r>
            <a:r>
              <a:rPr lang="en-US" sz="9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Full Minikube deployment strategy using 8 specialized manifest files.</a:t>
            </a:r>
            <a:endParaRPr lang="en-US" sz="90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5975" y="1926647"/>
            <a:ext cx="107156" cy="17145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670287" y="1897527"/>
            <a:ext cx="3493294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1A36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Components:</a:t>
            </a:r>
            <a:r>
              <a:rPr lang="en-US" sz="9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Includes Namespace, Secrets, PVCs, Deployments, StatefulSet, and Ingress configurations.</a:t>
            </a:r>
            <a:endParaRPr lang="en-US" sz="900" dirty="0"/>
          </a:p>
        </p:txBody>
      </p:sp>
      <p:sp>
        <p:nvSpPr>
          <p:cNvPr id="22" name="Text 13"/>
          <p:cNvSpPr/>
          <p:nvPr/>
        </p:nvSpPr>
        <p:spPr>
          <a:xfrm>
            <a:off x="4852108" y="4522634"/>
            <a:ext cx="3707606" cy="296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Demonstrates advanced cloud-native scaling and automated resource management beyond basic containerization.</a:t>
            </a:r>
            <a:endParaRPr lang="en-US" sz="95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E1BFC251-9A87-DF13-327F-7C8DD66D274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43119" y="1862759"/>
            <a:ext cx="4218954" cy="250905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365418" y="1959173"/>
            <a:ext cx="4413163" cy="7875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4950" b="1" dirty="0">
                <a:solidFill>
                  <a:srgbClr val="4CAF50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THANK YOU!</a:t>
            </a:r>
            <a:endParaRPr lang="en-US" sz="4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2365418" y="2889647"/>
            <a:ext cx="4413163" cy="294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900" i="1" dirty="0">
                <a:solidFill>
                  <a:srgbClr val="FFFFFF">
                    <a:alpha val="90000"/>
                  </a:srgbClr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Any Questions?</a:t>
            </a:r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Google Shape;59;g138f90b98de_0_26">
            <a:extLst>
              <a:ext uri="{FF2B5EF4-FFF2-40B4-BE49-F238E27FC236}">
                <a16:creationId xmlns:a16="http://schemas.microsoft.com/office/drawing/2014/main" id="{038432B8-1E1D-A315-C53D-3CD54B86230D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1248" y="-52934"/>
            <a:ext cx="3366844" cy="145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826</Words>
  <Application>Microsoft Office PowerPoint</Application>
  <PresentationFormat>On-screen Show (16:9)</PresentationFormat>
  <Paragraphs>151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monospace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Asser Mohamed</dc:creator>
  <cp:lastModifiedBy>Aser Mohamed</cp:lastModifiedBy>
  <cp:revision>2</cp:revision>
  <dcterms:created xsi:type="dcterms:W3CDTF">2026-05-10T15:42:51Z</dcterms:created>
  <dcterms:modified xsi:type="dcterms:W3CDTF">2026-05-10T17:31:44Z</dcterms:modified>
</cp:coreProperties>
</file>